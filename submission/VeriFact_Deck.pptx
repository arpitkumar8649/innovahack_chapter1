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37160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5400" b="1">
                <a:solidFill>
                  <a:srgbClr val="E8ECF4"/>
                </a:solidFill>
              </a:defRPr>
            </a:pPr>
            <a:r>
              <a:t>⚖️  VERITASAI</a:t>
            </a:r>
          </a:p>
          <a:p>
            <a:pPr algn="l">
              <a:spcAft>
                <a:spcPts val="800"/>
              </a:spcAft>
              <a:defRPr sz="2400" b="1">
                <a:solidFill>
                  <a:srgbClr val="4F8CFF"/>
                </a:solidFill>
              </a:defRPr>
            </a:pPr>
            <a:r>
              <a:t>The Research Court — Autonomous Multi-Agent Fact-Verification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8B96AD"/>
                </a:solidFill>
              </a:defRPr>
            </a:pPr>
            <a:r>
              <a:t>Every claim argued over by three adversarial agents, grounded in exact source quotes, and anchored to a Merkle tree you can verify in your browser.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937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8B96AD"/>
                </a:solidFill>
              </a:defRPr>
            </a:pPr>
            <a:r>
              <a:t>InnovaHack Chapter 1  ·  Domain 3: Gen AI  ·  Problem Statement 1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8B96AD"/>
                </a:solidFill>
              </a:defRPr>
            </a:pPr>
            <a:r>
              <a:t>Phase 0-1 of the 18-month master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THE PROBLEM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AI confidently lies. Users can't tell when.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700">
                <a:solidFill>
                  <a:srgbClr val="E8ECF4"/>
                </a:solidFill>
              </a:defRPr>
            </a:pPr>
            <a:r>
              <a:t>• Generative AI hallucinates — and reports ~100% confidence while doing it (calibration research, Amazon/MIT 2024-25).</a:t>
            </a:r>
          </a:p>
          <a:p>
            <a:pPr>
              <a:spcAft>
                <a:spcPts val="600"/>
              </a:spcAft>
              <a:defRPr sz="1700">
                <a:solidFill>
                  <a:srgbClr val="E8ECF4"/>
                </a:solidFill>
              </a:defRPr>
            </a:pPr>
            <a:r>
              <a:t>• Single-model answers give no receipts: no sources, no dissent, no way to know what was verified — citations link URLs, not evidence.</a:t>
            </a:r>
          </a:p>
          <a:p>
            <a:pPr>
              <a:spcAft>
                <a:spcPts val="600"/>
              </a:spcAft>
              <a:defRPr sz="1700">
                <a:solidFill>
                  <a:srgbClr val="F5B942"/>
                </a:solidFill>
              </a:defRPr>
            </a:pPr>
            <a:r>
              <a:t>• Example: ask a chatbot “Did Einstein win the Nobel for relativity?” — many repeat the myth with full confidence.</a:t>
            </a:r>
          </a:p>
          <a:p>
            <a:pPr>
              <a:spcAft>
                <a:spcPts val="600"/>
              </a:spcAft>
              <a:defRPr sz="1700">
                <a:solidFill>
                  <a:srgbClr val="E8ECF4"/>
                </a:solidFill>
              </a:defRPr>
            </a:pPr>
            <a:r>
              <a:t>• The problem statement asks: can multiple AI agents check and challenge each other to produce trustworthy output?</a:t>
            </a:r>
          </a:p>
          <a:p>
            <a:pPr>
              <a:spcAft>
                <a:spcPts val="600"/>
              </a:spcAft>
              <a:defRPr sz="1900">
                <a:solidFill>
                  <a:srgbClr val="2ECC8F"/>
                </a:solidFill>
              </a:defRPr>
            </a:pPr>
            <a:r>
              <a:t>VeritasAI's answer: a self-adversarial court, not a single voice — and every receipt is math.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THE SOLUTION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The Research Court — a 10-stage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E8ECF4"/>
                </a:solidFill>
              </a:defRPr>
            </a:pPr>
            <a:r>
              <a:t>1-2 · MURLI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3 hypotheses +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self-challenge →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counter-searches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1" y="2697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4F8CFF"/>
                </a:solidFill>
              </a:defRPr>
            </a:pPr>
            <a: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2441448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E8ECF4"/>
                </a:solidFill>
              </a:defRPr>
            </a:pPr>
            <a:r>
              <a:t>3 · EVIDENCE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Serper web+scholar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+news → Tavily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full-text, hashed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2697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4F8CFF"/>
                </a:solidFill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9976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E8ECF4"/>
                </a:solidFill>
              </a:defRPr>
            </a:pPr>
            <a:r>
              <a:t>4 · CLAIMS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atomic claims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anchored to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evidence chunks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9048" y="2697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4F8CFF"/>
                </a:solidFill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318504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4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4F8CFF"/>
                </a:solidFill>
              </a:defRPr>
            </a:pPr>
            <a:r>
              <a:t>5 · COURT ×3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span-gated quotes,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HMAC-signed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verdicts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7575" y="2697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4F8CFF"/>
                </a:solidFill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032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E8ECF4"/>
                </a:solidFill>
              </a:defRPr>
            </a:pPr>
            <a:r>
              <a:t>6-7 · SWEEPS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typed hallucination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+ contradiction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6104" y="2697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4F8CFF"/>
                </a:solidFill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95560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E8ECF4"/>
                </a:solidFill>
              </a:defRPr>
            </a:pPr>
            <a:r>
              <a:t>8-10 · VERDICT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trust engine,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Merkle root,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SQLite journal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09728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500">
                <a:solidFill>
                  <a:srgbClr val="E8ECF4"/>
                </a:solidFill>
              </a:defRPr>
            </a:pPr>
            <a:r>
              <a:t>• Live pipeline: every stage streams to the browser over Server-Sent Events — hypotheses form, verdict badges flip, fabricated quotes get voided in real time.</a:t>
            </a:r>
          </a:p>
          <a:p>
            <a:pPr>
              <a:spcAft>
                <a:spcPts val="600"/>
              </a:spcAft>
              <a:defRPr sz="1500">
                <a:solidFill>
                  <a:srgbClr val="E8ECF4"/>
                </a:solidFill>
              </a:defRPr>
            </a:pPr>
            <a:r>
              <a:t>• Research-grounded: STORM (multi-perspective research), DebateCV SIGIR 2025 (debate-driven verification), FActScore (atomic claims), MBFC (source tiers).</a:t>
            </a:r>
          </a:p>
          <a:p>
            <a:pPr>
              <a:spcAft>
                <a:spcPts val="600"/>
              </a:spcAft>
              <a:defRPr sz="1500">
                <a:solidFill>
                  <a:srgbClr val="E8ECF4"/>
                </a:solidFill>
              </a:defRPr>
            </a:pPr>
            <a:r>
              <a:t>• Resilient: per-agent failure tolerance, JSON nudge-retry, graceful degradation to snippet-only mode if extraction fails.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THE CORE INNOVATION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Murli attacks its own findings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37360"/>
            <a:ext cx="5486400" cy="42062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4F8CFF"/>
                </a:solidFill>
              </a:defRPr>
            </a:pPr>
            <a:r>
              <a:t>SELF-ADVERSARIAL REASONING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Standard agents “yes-sir” the prompt.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Murli generates 3 competing hypotheses,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then for each asks: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“If this is WRONG, why would it be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wrong? What evidence would DISPROVE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it? Who disagrees, and on what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grounds?”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…and issues those questions as REAL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searches — not rhetorical questions.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737360"/>
            <a:ext cx="5303520" cy="42062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2ECC8F"/>
                </a:solidFill>
              </a:defRPr>
            </a:pPr>
            <a:r>
              <a:t>WHAT THE COURT RECEIVES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• 3 hypotheses with prior plausibility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• counter-evidence searches already run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• self-identified weaknesses per hypothesis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(single-source dependence, confounders,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unverifiable premises)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• full-text sources (Serper → Tavily),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chunked and SHA-256 hashed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Hallucination is pre-filtered at the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source — before verification begins.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THE TRUST LAYER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Citations as cryptographic artifacts (FEC)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37360"/>
            <a:ext cx="5486400" cy="20116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FF5D6C"/>
                </a:solidFill>
              </a:defRPr>
            </a:pPr>
            <a:r>
              <a:t>SPANN GATE + SIGNED VERDICTS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Every verdict must quote an evidence span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that exists VERBATIM in the corpus —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fabricated quotes void the verdict.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Verdicts are HMAC-signed per run.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737360"/>
            <a:ext cx="5303520" cy="20116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4F8CFF"/>
                </a:solidFill>
              </a:defRPr>
            </a:pPr>
            <a:r>
              <a:t>MERKLE ANCHORING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Every chunk hashed; the run's chunks form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a Merkle tree. Each claim stores the proof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path for its cited chunks — verified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client-side via Web Crypto. No server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500">
                <a:solidFill>
                  <a:srgbClr val="E8ECF4"/>
                </a:solidFill>
              </a:defRPr>
            </a:pPr>
            <a:r>
              <a:t>Click any citation → the Evidence Inspector shows the exact quoted sentence highlighted in its source chunk, the authority tier, the content hash, and a Merkle proof verified in your browser.</a:t>
            </a:r>
          </a:p>
          <a:p>
            <a:pPr>
              <a:spcAft>
                <a:spcPts val="600"/>
              </a:spcAft>
              <a:defRPr sz="1500">
                <a:solidFill>
                  <a:srgbClr val="2ECC8F"/>
                </a:solidFill>
              </a:defRPr>
            </a:pPr>
            <a:r>
              <a:t>GET /api/reports/{id}/verify recomputes the root and re-checks every signature from stored data alone — the report proves itself.</a:t>
            </a:r>
          </a:p>
          <a:p>
            <a:pPr>
              <a:spcAft>
                <a:spcPts val="600"/>
              </a:spcAft>
              <a:defRPr sz="1600">
                <a:solidFill>
                  <a:srgbClr val="F5B942"/>
                </a:solidFill>
              </a:defRPr>
            </a:pPr>
            <a:r>
              <a:t>“No more ‘I read it on the internet’ — every claim shows its receipt, and the receipt is math.”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THE PROOF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The misinformation trap — caught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F5B942"/>
                </a:solidFill>
              </a:defRPr>
            </a:pPr>
            <a:r>
              <a:t>Query: “Albert Einstein won the Nobel Prize for his theory of relativity”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743200"/>
            <a:ext cx="5486400" cy="32918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FF5D6C"/>
                </a:solidFill>
              </a:defRPr>
            </a:pPr>
            <a:r>
              <a:t>WHAT HAPPENED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1. Murli formed 3 hypotheses + counter-searches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2. Extractor surfaced the premise as Claim 1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3. All three verifiers: A=refute B=refute C=refute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4. Claim 1 → REFUTED with exact quotes from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nobelprize.org, span-validated + signed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5. Report opens with the correction, not the myth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6. Attestation: Merkle root ✓, all signatures ✓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2743200"/>
            <a:ext cx="5303520" cy="32918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2ECC8F"/>
                </a:solidFill>
              </a:defRPr>
            </a:pPr>
            <a:r>
              <a:t>WHY JUDGES SHOULD CARE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A plain chatbot repeats the myth confidently.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VeritasAI refutes it with verifiable receipts.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Measured: Great Wall trap → 6 fabricated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verifier quotes caught and voided by the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span gate; premise still REFUTED.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Clean topics → high-trust, zero false alarms.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BUILD &amp; WHAT'S NEXT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Phase 0-1 shipped · 18-month arc planned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37360"/>
            <a:ext cx="5486400" cy="42062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4F8CFF"/>
                </a:solidFill>
              </a:defRPr>
            </a:pPr>
            <a:r>
              <a:t>TECH STACK (SHIPPED)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Backend — FastAPI + asyncio, SSE streaming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LLM — Qwen (DashScope, provider-agnostic layer)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Search — Serper.dev (web + scholar + news)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Extraction — Tavily /extract (full text)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Storage — SQLite journal + re-attestation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Frontend — vanilla JS + Web Crypto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~2,900 lines · 10-stage court · fully async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Typical run: 60-90 seconds end-to-end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737360"/>
            <a:ext cx="5303520" cy="42062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7C5CFF"/>
                </a:solidFill>
              </a:defRPr>
            </a:pPr>
            <a:r>
              <a:t>ROADMAP (MASTER PLAN)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P2 — Trust engine v2 + FEVER/SciFact eval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    harness in CI (prove it scientifically)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P3 — Claim memory + multi-turn debate rounds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P4 — Argument trees + Debate Theater UI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P5 — ChromaDB: counter-evidence retrieval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P6 — Neo4j provenance graph + expert referee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P7 — Temporal durable orchestration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P8 — Red-team agent + white-label API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