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F7EDF1"/>
                </a:solidFill>
              </a:defRPr>
            </a:pPr>
            <a:r>
              <a:t>⚖  VERITASAI</a:t>
            </a:r>
          </a:p>
          <a:p>
            <a:pPr algn="ctr">
              <a:spcAft>
                <a:spcPts val="1800"/>
              </a:spcAft>
              <a:defRPr sz="3000" b="1">
                <a:solidFill>
                  <a:srgbClr val="FB7185"/>
                </a:solidFill>
              </a:defRPr>
            </a:pPr>
            <a:r>
              <a:t>The Research Court</a:t>
            </a:r>
          </a:p>
          <a:p>
            <a:pPr algn="ctr">
              <a:spcAft>
                <a:spcPts val="0"/>
              </a:spcAft>
              <a:defRPr sz="1800" b="0">
                <a:solidFill>
                  <a:srgbClr val="D3B8C2"/>
                </a:solidFill>
              </a:defRPr>
            </a:pPr>
            <a:r>
              <a:t>An autonomous multi-agent system that researches, argues, verifies,</a:t>
            </a:r>
            <a:br/>
            <a:r>
              <a:t>and cites in the open — every claim a cryptographically verifiable artifact.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A5828F"/>
                </a:solidFill>
              </a:defRPr>
            </a:pPr>
            <a:r>
              <a:t>InnovaHack Chapter 1  ·  Domain 3: Gen AI  ·  Problem Statement 1</a:t>
            </a:r>
          </a:p>
          <a:p>
            <a:pPr algn="ctr">
              <a:spcAft>
                <a:spcPts val="0"/>
              </a:spcAft>
              <a:defRPr sz="1400" b="1">
                <a:solidFill>
                  <a:srgbClr val="3ECF8E"/>
                </a:solidFill>
              </a:defRPr>
            </a:pPr>
            <a:r>
              <a:t>100% trap catch-rate  ·  0% false alarms  ·  9 phases shipped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THE PROBLEM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AI answers confidently — even when it's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2000" b="1">
                <a:solidFill>
                  <a:srgbClr val="F7EDF1"/>
                </a:solidFill>
              </a:defRPr>
            </a:pPr>
            <a:r>
              <a:t>Generative AI hallucinates, and reports near-100% confidence while doing it.</a:t>
            </a:r>
          </a:p>
          <a:p>
            <a:pPr algn="l">
              <a:spcAft>
                <a:spcPts val="1400"/>
              </a:spcAft>
              <a:defRPr sz="1700" b="0">
                <a:solidFill>
                  <a:srgbClr val="D3B8C2"/>
                </a:solidFill>
              </a:defRPr>
            </a:pPr>
            <a:r>
              <a:t>•  Calibration research (MIT / Amazon, 2024-25): LLMs are maximally confident even when maximally wrong.</a:t>
            </a:r>
          </a:p>
          <a:p>
            <a:pPr algn="l">
              <a:spcAft>
                <a:spcPts val="1400"/>
              </a:spcAft>
              <a:defRPr sz="1700" b="0">
                <a:solidFill>
                  <a:srgbClr val="D3B8C2"/>
                </a:solidFill>
              </a:defRPr>
            </a:pPr>
            <a:r>
              <a:t>•  Ask a chatbot “Did Einstein win the Nobel for relativity?” — it answers “yes,” fluently and incorrectly.</a:t>
            </a:r>
          </a:p>
          <a:p>
            <a:pPr algn="l">
              <a:spcAft>
                <a:spcPts val="1400"/>
              </a:spcAft>
              <a:defRPr sz="1700" b="0">
                <a:solidFill>
                  <a:srgbClr val="D3B8C2"/>
                </a:solidFill>
              </a:defRPr>
            </a:pPr>
            <a:r>
              <a:t>•  Single-model answers give no receipts: no sources, no dissent, no way to know what was verified.</a:t>
            </a:r>
          </a:p>
          <a:p>
            <a:pPr algn="l">
              <a:spcAft>
                <a:spcPts val="1400"/>
              </a:spcAft>
              <a:defRPr sz="1700" b="0">
                <a:solidFill>
                  <a:srgbClr val="D3B8C2"/>
                </a:solidFill>
              </a:defRPr>
            </a:pPr>
            <a:r>
              <a:t>•  Citations link URLs, not evidence. There is no audit trail. There is no trust anchor.</a:t>
            </a:r>
          </a:p>
          <a:p>
            <a:pPr algn="l">
              <a:spcAft>
                <a:spcPts val="0"/>
              </a:spcAft>
              <a:defRPr sz="1900" b="1">
                <a:solidFill>
                  <a:srgbClr val="FB7185"/>
                </a:solidFill>
              </a:defRPr>
            </a:pPr>
            <a:r>
              <a:t>Users cannot distinguish a verified fact from a confident fabrication.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THE SOLUTION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Replace one black-box answer with a transparent court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F7EDF1"/>
                </a:solidFill>
              </a:defRPr>
            </a:pPr>
            <a:r>
              <a:t>Ten adversarial agents research, argue, verify, and cite in the open. Every claim is grounded in exact source quotes, scored by a deterministic trust engine, and anchored to a Merkle tree you verify in your own browser.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2651760" cy="26517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265176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900" b="1">
                <a:solidFill>
                  <a:srgbClr val="F43F5E"/>
                </a:solidFill>
              </a:defRPr>
            </a:pPr>
            <a:r>
              <a:t>Adversarial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Agents are instructed to destroy each claim — not confirm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3108960"/>
            <a:ext cx="2651760" cy="26517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3108960"/>
            <a:ext cx="2651760" cy="1097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900" b="1">
                <a:solidFill>
                  <a:srgbClr val="FB7185"/>
                </a:solidFill>
              </a:defRPr>
            </a:pPr>
            <a:r>
              <a:t>Deterministic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Confidence is computed, never LLM self-reported.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08960"/>
            <a:ext cx="2651760" cy="26517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3108960"/>
            <a:ext cx="2651760" cy="109728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900" b="1">
                <a:solidFill>
                  <a:srgbClr val="BE123C"/>
                </a:solidFill>
              </a:defRPr>
            </a:pPr>
            <a:r>
              <a:t>Verifiable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Every quote is span-validated + HMAC-signed + Merkle-anchored.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3108960"/>
            <a:ext cx="2651760" cy="26517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5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0" y="3108960"/>
            <a:ext cx="2651760" cy="109728"/>
          </a:xfrm>
          <a:prstGeom prst="rect">
            <a:avLst/>
          </a:prstGeom>
          <a:solidFill>
            <a:srgbClr val="F5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338328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900" b="1">
                <a:solidFill>
                  <a:srgbClr val="F5B942"/>
                </a:solidFill>
              </a:defRPr>
            </a:pPr>
            <a:r>
              <a:t>Transparent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The whole trial streams live — hypotheses, verdicts, dissent.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ARCHITECTURE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The 10-stage court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691639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1 · Intake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Memory recall of</a:t>
            </a:r>
            <a:br/>
            <a:r>
              <a:t>prior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33472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6352" y="155448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691639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2 · Murli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3 hypotheses +</a:t>
            </a:r>
            <a:br/>
            <a:r>
              <a:t>self-challenge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6904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9784" y="155448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9512" y="1691639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3 · Evidence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Serper + Tavily</a:t>
            </a:r>
            <a:br/>
            <a:r>
              <a:t>full-text, hashed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0336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43216" y="155448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52944" y="1691639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4 · Claims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Atomic claims</a:t>
            </a:r>
            <a:br/>
            <a:r>
              <a:t>anchored to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3768" y="20116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56648" y="1554480"/>
            <a:ext cx="2148840" cy="13716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66376" y="1691639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B7185"/>
                </a:solidFill>
              </a:defRPr>
            </a:pPr>
            <a:r>
              <a:t>5 · Court ×3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Span-gated,</a:t>
            </a:r>
            <a:br/>
            <a:r>
              <a:t>signed verdicts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184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3429000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6 · Debate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Concede / rebut /</a:t>
            </a:r>
            <a:br/>
            <a:r>
              <a:t>hold → Judge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3749039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329184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3429000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7 · Audit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Typed hallucination</a:t>
            </a:r>
            <a:br/>
            <a:r>
              <a:t>+ contradiction sweep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46904" y="3749039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9784" y="329184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9512" y="3429000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8 · Score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Deterministic trust</a:t>
            </a:r>
            <a:br/>
            <a:r>
              <a:t>+ 6 epistemic statuses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0336" y="3749039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43216" y="329184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52944" y="3429000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9 · Synthesis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Citation-backed</a:t>
            </a:r>
            <a:br/>
            <a:r>
              <a:t>report + Merkle root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3768" y="3749039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43F5E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56648" y="3291840"/>
            <a:ext cx="2148840" cy="137160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66376" y="3429000"/>
            <a:ext cx="19293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7EDF1"/>
                </a:solidFill>
              </a:defRPr>
            </a:pPr>
            <a:r>
              <a:t>10 · Learn</a:t>
            </a:r>
          </a:p>
          <a:p>
            <a:pPr algn="ctr">
              <a:spcAft>
                <a:spcPts val="0"/>
              </a:spcAft>
              <a:defRPr sz="1100" b="0">
                <a:solidFill>
                  <a:srgbClr val="D3B8C2"/>
                </a:solidFill>
              </a:defRPr>
            </a:pPr>
            <a:r>
              <a:t>Write to memory</a:t>
            </a:r>
            <a:br/>
            <a:r>
              <a:t>+ journal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D3B8C2"/>
                </a:solidFill>
              </a:defRPr>
            </a:pPr>
            <a:r>
              <a:t>Every stage streams to the browser over Server-Sent Events — the argument forms live. Fully async; the verifier panel and debate run concurrently.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CORE INNOVATION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Murli attacks its own findings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SELF-ADVERSARIAL REASONING</a:t>
            </a:r>
          </a:p>
          <a:p>
            <a:pPr algn="l">
              <a:spcAft>
                <a:spcPts val="1200"/>
              </a:spcAft>
              <a:defRPr sz="1400" b="0">
                <a:solidFill>
                  <a:srgbClr val="D3B8C2"/>
                </a:solidFill>
              </a:defRPr>
            </a:pPr>
            <a:r>
              <a:t>Standard agents “yes-sir” the prompt. Murli plays devil's advocate against itself before the court convenes: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F7EDF1"/>
                </a:solidFill>
              </a:defRPr>
            </a:pPr>
            <a:r>
              <a:t>•  “If this is WRONG, why would it be wrong?”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F7EDF1"/>
                </a:solidFill>
              </a:defRPr>
            </a:pPr>
            <a:r>
              <a:t>•  “What evidence would DISPROVE it?”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F7EDF1"/>
                </a:solidFill>
              </a:defRPr>
            </a:pPr>
            <a:r>
              <a:t>•  “Who disagrees, and on what grounds?”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F7EDF1"/>
                </a:solidFill>
              </a:defRPr>
            </a:pPr>
            <a:r>
              <a:t>•  “Is the source primary, or hearsay? How old?”</a:t>
            </a:r>
          </a:p>
          <a:p>
            <a:pPr algn="l">
              <a:spcAft>
                <a:spcPts val="0"/>
              </a:spcAft>
              <a:defRPr sz="1350" b="1">
                <a:solidFill>
                  <a:srgbClr val="FB7185"/>
                </a:solidFill>
              </a:defRPr>
            </a:pPr>
            <a:r>
              <a:t>…and issues those as REAL searches — not rhetorical questions.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3E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3ECF8E"/>
                </a:solidFill>
              </a:defRPr>
            </a:pPr>
            <a:r>
              <a:t>WHAT THE COURT RECEIVES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3 competing hypotheses with prior plausibility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Counter-evidence searches already executed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Self-identified weaknesses per hypothesis (single-source dependence, confounders, unverifiable premises)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Full-text sources (Serper web/scholar/news → Tavily), chunked and SHA-256 hashed</a:t>
            </a:r>
          </a:p>
          <a:p>
            <a:pPr algn="l">
              <a:spcAft>
                <a:spcPts val="0"/>
              </a:spcAft>
              <a:defRPr sz="1350" b="1">
                <a:solidFill>
                  <a:srgbClr val="3ECF8E"/>
                </a:solidFill>
              </a:defRPr>
            </a:pPr>
            <a:r>
              <a:t>Hallucination is pre-filtered at the source — before verification begins.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THE COURT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Three adversarial verifiers + the span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566160" cy="210312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3E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3ECF8E"/>
                </a:solidFill>
              </a:defRPr>
            </a:pPr>
            <a:r>
              <a:t>A · Evidentialist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Literal evidence only — supports a claim only if a source states it verbatim.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566160" cy="210312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F43F5E"/>
                </a:solidFill>
              </a:defRPr>
            </a:pPr>
            <a:r>
              <a:t>B · Skeptic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Adversarial scrutiny — hunts outdated info, confused entities, unsourced numbers.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554480"/>
            <a:ext cx="3566160" cy="210312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5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39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F5B942"/>
                </a:solidFill>
              </a:defRPr>
            </a:pPr>
            <a:r>
              <a:t>C · Contextualist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Precision &amp; currency — checks dates, scope, over-absolute statements.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72800" cy="2103120"/>
          </a:xfrm>
          <a:prstGeom prst="roundRect">
            <a:avLst/>
          </a:prstGeom>
          <a:solidFill>
            <a:srgbClr val="2C1520"/>
          </a:solidFill>
          <a:ln w="2540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1">
                <a:solidFill>
                  <a:srgbClr val="FB7185"/>
                </a:solidFill>
              </a:defRPr>
            </a:pPr>
            <a:r>
              <a:t>THE SPAN GATE — anti-hallucination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D3B8C2"/>
                </a:solidFill>
              </a:defRPr>
            </a:pPr>
            <a:r>
              <a:t>Every verdict must quote an evidence span that exists VERBATIM in the corpus. A fabricated quote voids the verdict — it counts as “insufficient,” never as support or refutation. Verdicts are HMAC-signed per run (non-repudiation).</a:t>
            </a:r>
          </a:p>
          <a:p>
            <a:pPr algn="l">
              <a:spcAft>
                <a:spcPts val="0"/>
              </a:spcAft>
              <a:defRPr sz="1400" b="1">
                <a:solidFill>
                  <a:srgbClr val="3ECF8E"/>
                </a:solidFill>
              </a:defRPr>
            </a:pPr>
            <a:r>
              <a:t>Measured live: the gate caught and voided 6 fabricated verifier quotes in the Great Wall trap run — the premise was still REFUTED 3-0.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THE TRUST LAYER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Fact-Embedded Citations — receipts that are math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72800" cy="1051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28016" cy="10515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43F5E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7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F7EDF1"/>
                </a:solidFill>
              </a:defRPr>
            </a:pPr>
            <a:r>
              <a:t>Content hashing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Every evidence chunk carries SHA-256 + retrieval timestamp.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24912"/>
            <a:ext cx="10972800" cy="1051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724912"/>
            <a:ext cx="128016" cy="10515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43F5E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4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F7EDF1"/>
                </a:solidFill>
              </a:defRPr>
            </a:pPr>
            <a:r>
              <a:t>Merkle anchoring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Chunks form a Merkle tree; each claim stores its proof path — verified client-side via Web Crypto.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95344"/>
            <a:ext cx="10972800" cy="1051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95344"/>
            <a:ext cx="128016" cy="10515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86783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43F5E"/>
                </a:solidFill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05072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F7EDF1"/>
                </a:solidFill>
              </a:defRPr>
            </a:pPr>
            <a:r>
              <a:t>Signed verdicts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Each verdict is HMAC-signed over verifier · claim · stance · quote. Agents can't be re-quoted.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65776"/>
            <a:ext cx="10972800" cy="1051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065776"/>
            <a:ext cx="128016" cy="10515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157216"/>
            <a:ext cx="91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43F5E"/>
                </a:solidFill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75504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700" b="1">
                <a:solidFill>
                  <a:srgbClr val="F7EDF1"/>
                </a:solidFill>
              </a:defRPr>
            </a:pPr>
            <a:r>
              <a:t>Public verification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GET /api/reports/{id}/verify recomputes the root + re-checks every signature from stored data alone.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B7185"/>
                </a:solidFill>
              </a:defRPr>
            </a:pPr>
            <a:r>
              <a:t>“No more ‘I read it on the internet’ — every claim shows its receipt, and the receipt is math.”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SCORING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A deterministic trust engine — never self-reported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6400800" cy="4480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CONFIDENCE FORMULA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30 × verifier agreement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20 × evidence coverage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20 × source authority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10 × source diversity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10 × specificity   + 10 × recency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− 35 × contradiction penalty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F7EDF1"/>
                </a:solidFill>
              </a:defRPr>
            </a:pPr>
            <a:r>
              <a:t>− 20 × hallucination flag</a:t>
            </a:r>
          </a:p>
          <a:p>
            <a:pPr algn="l">
              <a:spcAft>
                <a:spcPts val="0"/>
              </a:spcAft>
              <a:defRPr sz="1250" b="0">
                <a:solidFill>
                  <a:srgbClr val="A5828F"/>
                </a:solidFill>
              </a:defRPr>
            </a:pPr>
            <a:r>
              <a:t>clamped to [5, 98] — never 0 (unverifiable ≠ false), never 100 (epistemic honesty).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54480"/>
            <a:ext cx="4389120" cy="4480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78308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6 EPISTEMIC STATUSES</a:t>
            </a:r>
          </a:p>
          <a:p>
            <a:pPr algn="l">
              <a:spcAft>
                <a:spcPts val="1000"/>
              </a:spcAft>
              <a:defRPr sz="1500" b="1">
                <a:solidFill>
                  <a:srgbClr val="3ECF8E"/>
                </a:solidFill>
              </a:defRPr>
            </a:pPr>
            <a:r>
              <a:t>■  ESTABLISHED</a:t>
            </a:r>
          </a:p>
          <a:p>
            <a:pPr algn="l">
              <a:spcAft>
                <a:spcPts val="1000"/>
              </a:spcAft>
              <a:defRPr sz="1500" b="1">
                <a:solidFill>
                  <a:srgbClr val="FB7185"/>
                </a:solidFill>
              </a:defRPr>
            </a:pPr>
            <a:r>
              <a:t>■  SUPPORTED</a:t>
            </a:r>
          </a:p>
          <a:p>
            <a:pPr algn="l">
              <a:spcAft>
                <a:spcPts val="1000"/>
              </a:spcAft>
              <a:defRPr sz="1500" b="1">
                <a:solidFill>
                  <a:srgbClr val="F5B942"/>
                </a:solidFill>
              </a:defRPr>
            </a:pPr>
            <a:r>
              <a:t>■  CONTESTED</a:t>
            </a:r>
          </a:p>
          <a:p>
            <a:pPr algn="l">
              <a:spcAft>
                <a:spcPts val="1000"/>
              </a:spcAft>
              <a:defRPr sz="1500" b="1">
                <a:solidFill>
                  <a:srgbClr val="F43F5E"/>
                </a:solidFill>
              </a:defRPr>
            </a:pPr>
            <a:r>
              <a:t>■  REFUTED</a:t>
            </a:r>
          </a:p>
          <a:p>
            <a:pPr algn="l">
              <a:spcAft>
                <a:spcPts val="1000"/>
              </a:spcAft>
              <a:defRPr sz="1500" b="1">
                <a:solidFill>
                  <a:srgbClr val="A5828F"/>
                </a:solidFill>
              </a:defRPr>
            </a:pPr>
            <a:r>
              <a:t>■  UNVERIFIABLE</a:t>
            </a:r>
          </a:p>
          <a:p>
            <a:pPr algn="l">
              <a:spcAft>
                <a:spcPts val="1000"/>
              </a:spcAft>
              <a:defRPr sz="1500" b="1">
                <a:solidFill>
                  <a:srgbClr val="D3B8C2"/>
                </a:solidFill>
              </a:defRPr>
            </a:pPr>
            <a:r>
              <a:t>■  OUTDATED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A5828F"/>
                </a:solidFill>
              </a:defRPr>
            </a:pPr>
            <a:r>
              <a:t>Source authority uses MBFC-inspired tiers (primary/peer-reviewed → social/UGC).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THE INTERFACE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Debate Theater — a 3-column command center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454298" cy="36576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454298" cy="50292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30885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7EDF1"/>
                </a:solidFill>
              </a:defRPr>
            </a:pPr>
            <a:r>
              <a:t>The 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299709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Live agent avatars (animated)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Status + current goal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Per-verifier stance meters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Confidence filling in real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698" y="1554480"/>
            <a:ext cx="3454298" cy="36576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8698" y="1554480"/>
            <a:ext cx="3454298" cy="502920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1627632"/>
            <a:ext cx="30885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7EDF1"/>
                </a:solidFill>
              </a:defRPr>
            </a:pPr>
            <a:r>
              <a:t>Argument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240280"/>
            <a:ext cx="299709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Force-directed node graph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Query → hypotheses → claims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Green supports / red refutes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Pulsing low-confidence nodes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1554480"/>
            <a:ext cx="3454298" cy="36576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51596" y="1554480"/>
            <a:ext cx="3454298" cy="502920"/>
          </a:xfrm>
          <a:prstGeom prst="round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4476" y="1627632"/>
            <a:ext cx="30885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7EDF1"/>
                </a:solidFill>
              </a:defRPr>
            </a:pPr>
            <a:r>
              <a:t>Evidence Drawer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196" y="2240280"/>
            <a:ext cx="299709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Exact verdict quotes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Source credibility tiers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Semantic counter-evidence</a:t>
            </a:r>
          </a:p>
          <a:p>
            <a:pPr algn="l">
              <a:spcAft>
                <a:spcPts val="1000"/>
              </a:spcAft>
              <a:defRPr sz="1350" b="0">
                <a:solidFill>
                  <a:srgbClr val="D3B8C2"/>
                </a:solidFill>
              </a:defRPr>
            </a:pPr>
            <a:r>
              <a:t>• Merkle proof inspector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440680"/>
            <a:ext cx="10835640" cy="868680"/>
          </a:xfrm>
          <a:prstGeom prst="roundRect">
            <a:avLst/>
          </a:prstGeom>
          <a:solidFill>
            <a:srgbClr val="2C1520"/>
          </a:solidFill>
          <a:ln w="19050">
            <a:solidFill>
              <a:srgbClr val="F5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50" b="0">
                <a:solidFill>
                  <a:srgbClr val="D3B8C2"/>
                </a:solidFill>
              </a:defRPr>
            </a:pPr>
            <a:r>
              <a:t>Turn-based phases (Initial Claims → Cross-Examination → Final Synthesis) + a “What Changed?” consensus diff showing how deliberation moved each claim.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LEARNING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Cross-run memory + multi-turn debate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CROSS-RUN MEMORY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Claim memory (SQLite + FTS5) — prior verdicts recalled at intake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Freshly-verified claims reused, skipping the panel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Source registry + content-hash index (circular-citation seed)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Re-running a topic cites prior findings</a:t>
            </a:r>
          </a:p>
          <a:p>
            <a:pPr algn="l">
              <a:spcAft>
                <a:spcPts val="0"/>
              </a:spcAft>
              <a:defRPr sz="1350" b="1">
                <a:solidFill>
                  <a:srgbClr val="3ECF8E"/>
                </a:solidFill>
              </a:defRPr>
            </a:pPr>
            <a:r>
              <a:t>Measured: re-runs 56% faster (55s → 24s); 7/9 claims reused from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MULTI-TURN DEBATE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Round 1: three verifiers issue independent verdicts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Round 2: each reads the others — concede, rebut, or hold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Round 3: a Judge rules if no consensus, recording the dissent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Split-verdict claims surface the full deliberation transcript</a:t>
            </a:r>
          </a:p>
          <a:p>
            <a:pPr algn="l">
              <a:spcAft>
                <a:spcPts val="0"/>
              </a:spcAft>
              <a:defRPr sz="1350" b="1">
                <a:solidFill>
                  <a:srgbClr val="FB7185"/>
                </a:solidFill>
              </a:defRPr>
            </a:pPr>
            <a:r>
              <a:t>The panel deliberates like a real court — not a single vote.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DEEPER EVIDENCE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Semantic layer + provenance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SEMANTIC LAYER (Phase 6)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ChromaDB + bge-small-en-v1.5 (local embeddings, no API cost)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Contrastive counter-evidence retrieval — finds opposing passages keyword search misses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Semantic claim dedup across runs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“Find evidence that contradicts this claim”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KNOWLEDGE GRAPH (Phase 7)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NetworkX provenance graph: Claim → Evidence → Source → Publisher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Circular-citation detection (blog-citing-blog)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Multi-hop verification + weakest-link flagging</a:t>
            </a:r>
          </a:p>
          <a:p>
            <a:pPr algn="l">
              <a:spcAft>
                <a:spcPts val="1200"/>
              </a:spcAft>
              <a:defRPr sz="1350" b="0">
                <a:solidFill>
                  <a:srgbClr val="D3B8C2"/>
                </a:solidFill>
              </a:defRPr>
            </a:pPr>
            <a:r>
              <a:t>•  Expert Referee portal + public API v1 (API-key auth)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PRODUCTION &amp; ENTERPRISE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Durable scale, adversarial maturity, real auth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56616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F43F5E"/>
                </a:solidFill>
              </a:defRPr>
            </a:pPr>
            <a:r>
              <a:t>Durable Scale (P8)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Workflow journal: checkpoint / retry / replay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Prometheus metrics endpoint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Compliance mode (full reasoning trace)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Sentry error tracking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56616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FB7185"/>
                </a:solidFill>
              </a:defRPr>
            </a:pPr>
            <a:r>
              <a:t>Enterprise (P9)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Red-Team agent — 5 attack vectors probe each report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Multi-tenant SaaS: API keys + usage metering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Plan-based rate limits (Free / Pro / Enterprise)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RLHF-style feedback loop → policy updates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554480"/>
            <a:ext cx="3566160" cy="448056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59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BE123C"/>
                </a:solidFill>
              </a:defRPr>
            </a:pPr>
            <a:r>
              <a:t>Authentication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Register / login with bcrypt password hashing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JWT sessions (7-day expiry)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/court gated behind auth</a:t>
            </a:r>
          </a:p>
          <a:p>
            <a:pPr algn="l">
              <a:spcAft>
                <a:spcPts val="1100"/>
              </a:spcAft>
              <a:defRPr sz="1250" b="0">
                <a:solidFill>
                  <a:srgbClr val="D3B8C2"/>
                </a:solidFill>
              </a:defRPr>
            </a:pPr>
            <a:r>
              <a:t>•  Per-user investigation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THE PROOF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Measured, not vibes — the evaluation harness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51760" cy="18288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3E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7373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4200" b="1">
                <a:solidFill>
                  <a:srgbClr val="3ECF8E"/>
                </a:solidFill>
              </a:defRPr>
            </a:pPr>
            <a:r>
              <a:t>100%</a:t>
            </a:r>
          </a:p>
          <a:p>
            <a:pPr algn="ctr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trap catch-rate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651760" cy="18288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3E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4200" b="1">
                <a:solidFill>
                  <a:srgbClr val="3ECF8E"/>
                </a:solidFill>
              </a:defRPr>
            </a:pPr>
            <a:r>
              <a:t>0%</a:t>
            </a:r>
          </a:p>
          <a:p>
            <a:pPr algn="ctr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false alarms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2651760" cy="18288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5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4200" b="1">
                <a:solidFill>
                  <a:srgbClr val="F5B942"/>
                </a:solidFill>
              </a:defRPr>
            </a:pPr>
            <a:r>
              <a:t>0.309</a:t>
            </a:r>
          </a:p>
          <a:p>
            <a:pPr algn="ctr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calibration (ECE)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554480"/>
            <a:ext cx="2651760" cy="182880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17373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4200" b="1">
                <a:solidFill>
                  <a:srgbClr val="FB7185"/>
                </a:solidFill>
              </a:defRPr>
            </a:pPr>
            <a:r>
              <a:t>56%</a:t>
            </a:r>
          </a:p>
          <a:p>
            <a:pPr algn="ctr">
              <a:spcAft>
                <a:spcPts val="0"/>
              </a:spcAft>
              <a:defRPr sz="1300" b="0">
                <a:solidFill>
                  <a:srgbClr val="D3B8C2"/>
                </a:solidFill>
              </a:defRPr>
            </a:pPr>
            <a:r>
              <a:t>re-run speedup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57600"/>
            <a:ext cx="10972800" cy="2377440"/>
          </a:xfrm>
          <a:prstGeom prst="roundRect">
            <a:avLst/>
          </a:prstGeom>
          <a:solidFill>
            <a:srgbClr val="2C1520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10424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FB7185"/>
                </a:solidFill>
              </a:defRPr>
            </a:pPr>
            <a:r>
              <a:t>LIVE TRAP RUNS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3B8C2"/>
                </a:solidFill>
              </a:defRPr>
            </a:pPr>
            <a:r>
              <a:t>•  Einstein Nobel trap  →  premise REFUTED 3-0, exact quotes from nobelprize.org, attestation ✓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3B8C2"/>
                </a:solidFill>
              </a:defRPr>
            </a:pPr>
            <a:r>
              <a:t>•  Great Wall trap  →  6 fabricated quotes voided by the span gate; premise REFUTED; attestation ✓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3B8C2"/>
                </a:solidFill>
              </a:defRPr>
            </a:pPr>
            <a:r>
              <a:t>•  Dubai floods  →  3 hypotheses + 6 weaknesses, 15/15 full-text sources, Merkle + signatures ✓</a:t>
            </a:r>
          </a:p>
          <a:p>
            <a:pPr algn="l">
              <a:spcAft>
                <a:spcPts val="0"/>
              </a:spcAft>
              <a:defRPr sz="1250" b="0">
                <a:solidFill>
                  <a:srgbClr val="A5828F"/>
                </a:solidFill>
              </a:defRPr>
            </a:pPr>
            <a:r>
              <a:t>50-claim labeled harness, CI-gated. A system that publishes its own calibration error is more trustworthy than one that hides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IMPACT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Where trustworthy AI research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2377440" cy="8686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647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7EDF1"/>
                </a:solidFill>
              </a:defRPr>
            </a:pPr>
            <a:r>
              <a:t>Journalism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508760"/>
            <a:ext cx="8366760" cy="86868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600200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Fact-check articles before publishing, with verifiable receipts and source trails.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96312"/>
            <a:ext cx="2377440" cy="8686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5234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7EDF1"/>
                </a:solidFill>
              </a:defRPr>
            </a:pPr>
            <a:r>
              <a:t>Legal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496312"/>
            <a:ext cx="8366760" cy="86868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587752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Cross-check citations and claims; auditable verification trails for compliance.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83864"/>
            <a:ext cx="2377440" cy="8686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7EDF1"/>
                </a:solidFill>
              </a:defRPr>
            </a:pPr>
            <a:r>
              <a:t>Healthcare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483864"/>
            <a:ext cx="8366760" cy="86868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3575304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Verify medical claims against authoritative sources; reduce misinformation.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2377440" cy="8686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27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7EDF1"/>
                </a:solidFill>
              </a:defRPr>
            </a:pPr>
            <a:r>
              <a:t>Academia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4471416"/>
            <a:ext cx="8366760" cy="86868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4562856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Automate literature verification; ensure citation integrity in research.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58968"/>
            <a:ext cx="2377440" cy="8686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15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7EDF1"/>
                </a:solidFill>
              </a:defRPr>
            </a:pPr>
            <a:r>
              <a:t>Platforms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5458968"/>
            <a:ext cx="8366760" cy="86868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5550408"/>
            <a:ext cx="795527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D3B8C2"/>
                </a:solidFill>
              </a:defRPr>
            </a:pPr>
            <a:r>
              <a:t>White-label API for content moderation and claim verification at scale.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BUILD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Tech stack &amp;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4480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TECH STACK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Frontend — React 18 + TypeScript + Vite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Backend — FastAPI + asyncio, SSE streaming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LLM — Qwen (DashScope), provider-agnostic + auto-fallback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Search — Serper.dev (web + scholar + news)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Extraction — Tavily /extract (full text)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Semantic — ChromaDB + bge-small-en-v1.5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Graph — NetworkX (provenance + cycles)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D3B8C2"/>
                </a:solidFill>
              </a:defRPr>
            </a:pPr>
            <a:r>
              <a:t>•  Auth — bcrypt + JWT · Storage — SQLite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241019"/>
          </a:solidFill>
          <a:ln w="12700">
            <a:solidFill>
              <a:srgbClr val="4A24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1">
                <a:solidFill>
                  <a:srgbClr val="FB7185"/>
                </a:solidFill>
              </a:defRPr>
            </a:pPr>
            <a:r>
              <a:t>DEPLOYMENT (live)</a:t>
            </a:r>
          </a:p>
          <a:p>
            <a:pPr algn="l">
              <a:spcAft>
                <a:spcPts val="1100"/>
              </a:spcAft>
              <a:defRPr sz="1300" b="0">
                <a:solidFill>
                  <a:srgbClr val="D3B8C2"/>
                </a:solidFill>
              </a:defRPr>
            </a:pPr>
            <a:r>
              <a:t>•  Frontend → Vercel (React build)</a:t>
            </a:r>
          </a:p>
          <a:p>
            <a:pPr algn="l">
              <a:spcAft>
                <a:spcPts val="1100"/>
              </a:spcAft>
              <a:defRPr sz="1300" b="0">
                <a:solidFill>
                  <a:srgbClr val="D3B8C2"/>
                </a:solidFill>
              </a:defRPr>
            </a:pPr>
            <a:r>
              <a:t>•  Backend → Render (Docker, backend-only image)</a:t>
            </a:r>
          </a:p>
          <a:p>
            <a:pPr algn="l">
              <a:spcAft>
                <a:spcPts val="1100"/>
              </a:spcAft>
              <a:defRPr sz="1300" b="0">
                <a:solidFill>
                  <a:srgbClr val="D3B8C2"/>
                </a:solidFill>
              </a:defRPr>
            </a:pPr>
            <a:r>
              <a:t>•  Cross-origin CORS + JWT auth wired end-to-end</a:t>
            </a:r>
          </a:p>
          <a:p>
            <a:pPr algn="l">
              <a:spcAft>
                <a:spcPts val="1100"/>
              </a:spcAft>
              <a:defRPr sz="1300" b="0">
                <a:solidFill>
                  <a:srgbClr val="D3B8C2"/>
                </a:solidFill>
              </a:defRPr>
            </a:pPr>
            <a:r>
              <a:t>•  Single-container option: Docker (nginx edge + uvicorn)</a:t>
            </a:r>
          </a:p>
          <a:p>
            <a:pPr algn="l">
              <a:spcAft>
                <a:spcPts val="1100"/>
              </a:spcAft>
              <a:defRPr sz="1300" b="0">
                <a:solidFill>
                  <a:srgbClr val="D3B8C2"/>
                </a:solidFill>
              </a:defRPr>
            </a:pPr>
            <a:r>
              <a:t>•  Local dev: ./run.sh (API :8000 + frontend :3000)</a:t>
            </a:r>
          </a:p>
          <a:p>
            <a:pPr algn="l">
              <a:spcAft>
                <a:spcPts val="0"/>
              </a:spcAft>
              <a:defRPr sz="1250" b="0">
                <a:solidFill>
                  <a:srgbClr val="A5828F"/>
                </a:solidFill>
              </a:defRPr>
            </a:pPr>
            <a:r>
              <a:t>~26 backend modules · 10-stage court · fully async · containerized.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41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FB7185"/>
                </a:solidFill>
              </a:defRPr>
            </a:pPr>
            <a:r>
              <a:t>ROADMAP</a:t>
            </a:r>
          </a:p>
          <a:p>
            <a:pPr algn="l">
              <a:spcAft>
                <a:spcPts val="0"/>
              </a:spcAft>
              <a:defRPr sz="3000" b="1">
                <a:solidFill>
                  <a:srgbClr val="F7EDF1"/>
                </a:solidFill>
              </a:defRPr>
            </a:pPr>
            <a:r>
              <a:t>All 9 phases shipped — and what's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2533573" cy="420624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3E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54480"/>
            <a:ext cx="2533573" cy="128016"/>
          </a:xfrm>
          <a:prstGeom prst="rect">
            <a:avLst/>
          </a:prstGeom>
          <a:solidFill>
            <a:srgbClr val="3E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6781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3ECF8E"/>
                </a:solidFill>
              </a:defRPr>
            </a:pPr>
            <a:r>
              <a:t>Shipped · Core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Phases 0-3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Foundation, full court,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trust engine + eval,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memory + debate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1554480"/>
            <a:ext cx="2533573" cy="420624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973" y="1554480"/>
            <a:ext cx="2533573" cy="12801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853" y="1783080"/>
            <a:ext cx="216781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FB7185"/>
                </a:solidFill>
              </a:defRPr>
            </a:pPr>
            <a:r>
              <a:t>Shipped · Product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Phases 4-7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React Debate Theater,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argument trees, semantic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layer, knowledge 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554480"/>
            <a:ext cx="2533573" cy="420624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0147" y="1554480"/>
            <a:ext cx="2533573" cy="128016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783080"/>
            <a:ext cx="216781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F43F5E"/>
                </a:solidFill>
              </a:defRPr>
            </a:pPr>
            <a:r>
              <a:t>Shipped · Platform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Phases 8-9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Durable scale, red-team,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multi-tenant SaaS,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real authentication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2321" y="1554480"/>
            <a:ext cx="2533573" cy="4206240"/>
          </a:xfrm>
          <a:prstGeom prst="roundRect">
            <a:avLst/>
          </a:prstGeom>
          <a:solidFill>
            <a:srgbClr val="241019"/>
          </a:solidFill>
          <a:ln w="25400">
            <a:solidFill>
              <a:srgbClr val="A58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72321" y="1554480"/>
            <a:ext cx="2533573" cy="128016"/>
          </a:xfrm>
          <a:prstGeom prst="rect">
            <a:avLst/>
          </a:prstGeom>
          <a:solidFill>
            <a:srgbClr val="A58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5201" y="1783080"/>
            <a:ext cx="216781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600" b="1">
                <a:solidFill>
                  <a:srgbClr val="A5828F"/>
                </a:solidFill>
              </a:defRPr>
            </a:pPr>
            <a:r>
              <a:t>Next · Scale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Future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FEVER/SciFact benchmarks,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Neo4j migration, Temporal</a:t>
            </a:r>
          </a:p>
          <a:p>
            <a:pPr algn="l">
              <a:spcAft>
                <a:spcPts val="800"/>
              </a:spcAft>
              <a:defRPr sz="1350" b="0">
                <a:solidFill>
                  <a:srgbClr val="D3B8C2"/>
                </a:solidFill>
              </a:defRPr>
            </a:pPr>
            <a:r>
              <a:t>orchestration, RLHF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50" b="1">
                <a:solidFill>
                  <a:srgbClr val="FB7185"/>
                </a:solidFill>
              </a:defRPr>
            </a:pPr>
            <a:r>
              <a:t>This submission is a working product, not a prototype: every phase above is implemented and demonstrable in the live app.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VeritasAI · The Research Court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A5828F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6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800" b="1">
                <a:solidFill>
                  <a:srgbClr val="F7EDF1"/>
                </a:solidFill>
              </a:defRPr>
            </a:pPr>
            <a:r>
              <a:t>“Every claim shows its receipt.</a:t>
            </a:r>
          </a:p>
          <a:p>
            <a:pPr algn="ctr">
              <a:spcAft>
                <a:spcPts val="2200"/>
              </a:spcAft>
              <a:defRPr sz="3800" b="1">
                <a:solidFill>
                  <a:srgbClr val="F43F5E"/>
                </a:solidFill>
              </a:defRPr>
            </a:pPr>
            <a:r>
              <a:t>And the receipt is math.”</a:t>
            </a:r>
          </a:p>
          <a:p>
            <a:pPr algn="ctr">
              <a:spcAft>
                <a:spcPts val="0"/>
              </a:spcAft>
              <a:defRPr sz="1900" b="0">
                <a:solidFill>
                  <a:srgbClr val="D3B8C2"/>
                </a:solidFill>
              </a:defRPr>
            </a:pPr>
            <a:r>
              <a:t>Ten agents. One verdict. Zero trust required in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3ECF8E"/>
                </a:solidFill>
              </a:defRPr>
            </a:pPr>
            <a:r>
              <a:t>100% trap catch-rate  ·  0% false alarms  ·  9 phases shipped</a:t>
            </a:r>
          </a:p>
          <a:p>
            <a:pPr algn="ctr">
              <a:spcAft>
                <a:spcPts val="0"/>
              </a:spcAft>
              <a:defRPr sz="1400" b="0">
                <a:solidFill>
                  <a:srgbClr val="A5828F"/>
                </a:solidFill>
              </a:defRPr>
            </a:pPr>
            <a:r>
              <a:t>Frontend on Vercel  ·  Backend on Render  ·  Source on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